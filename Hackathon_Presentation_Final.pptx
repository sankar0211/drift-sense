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Drift-Sense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[Your Team Name]</a:t>
            </a:r>
          </a:p>
          <a:p>
            <a:r>
              <a:t>Members: [Member Names]</a:t>
            </a:r>
          </a:p>
          <a:p>
            <a:r>
              <a:t>Roles: [Roles]</a:t>
            </a:r>
          </a:p>
          <a:p>
            <a:r>
              <a:t>College: [College Name]</a:t>
            </a:r>
          </a:p>
          <a:p>
            <a:r>
              <a:t>Contact: [Email/Phone]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Drift-Sense: Navigation-Error Recovery</a:t>
            </a:r>
          </a:p>
          <a:p>
            <a:pPr lvl="1"/>
            <a:r>
              <a:t>Why navigation-error recovery matters in wafer inspection:</a:t>
            </a:r>
          </a:p>
          <a:p>
            <a:pPr lvl="2"/>
            <a:r>
              <a:t>SEM (Scanning Electron Microscope) imaging at high magnifications (100x+) is severely impacted by nanoscale thermal drift.</a:t>
            </a:r>
          </a:p>
          <a:p>
            <a:pPr lvl="2"/>
            <a:r>
              <a:t>The physical stage movement coordinates are inherently imprecise at the nanometer scale.</a:t>
            </a:r>
          </a:p>
          <a:p>
            <a:pPr lvl="2"/>
            <a:r>
              <a:t>When switching from a 10x wide-search context to a 100x high-res scan, the actual viewing area 'drifts' away from the intended target.</a:t>
            </a:r>
          </a:p>
          <a:p>
            <a:pPr lvl="1"/>
            <a:r>
              <a:t>Failure to correct this navigation error leads to imaging the wrong semiconductor structures, causing defective chips to pass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Concept: Multi-Scale Image Localization</a:t>
            </a:r>
          </a:p>
          <a:p>
            <a:pPr lvl="1"/>
            <a:r>
              <a:t>We developed a Classical Computer Vision localization algorithm.</a:t>
            </a:r>
          </a:p>
          <a:p>
            <a:pPr lvl="2"/>
            <a:r>
              <a:t>Architecture focus: Both DRAM (perfectly repeating) and FinFET architectures.</a:t>
            </a:r>
          </a:p>
          <a:p>
            <a:pPr lvl="1"/>
            <a:r>
              <a:t>Why Classical ML/CV over DL?</a:t>
            </a:r>
          </a:p>
          <a:p>
            <a:pPr lvl="2"/>
            <a:r>
              <a:t>Deep Learning requires massive labeled datasets for every chip design, whereas classical template matching is zero-shot and instantly generalizable.</a:t>
            </a:r>
          </a:p>
          <a:p>
            <a:pPr lvl="1"/>
            <a:r>
              <a:t>Why is our approach better than simple template matching?</a:t>
            </a:r>
          </a:p>
          <a:p>
            <a:pPr lvl="2"/>
            <a:r>
              <a:t>Simple template matching fails across scale jumps (100x to 10x). Our approach uses precise anti-aliased downsampling to align spatial frequencies before correlation.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Generator Design:</a:t>
            </a:r>
          </a:p>
          <a:p>
            <a:pPr lvl="1"/>
            <a:r>
              <a:t>Generates 10000x10000 synthetic wafers using periodic DRAM/FinFET arrays.</a:t>
            </a:r>
          </a:p>
          <a:p>
            <a:pPr lvl="2"/>
            <a:r>
              <a:t>Augmentation: Gaussian noise (for SEM shot noise) and Poisson noise (for electron scattering anomalies) [1].</a:t>
            </a:r>
          </a:p>
          <a:p>
            <a:pPr/>
            <a:r>
              <a:t>Localization Algorithm:</a:t>
            </a:r>
          </a:p>
          <a:p>
            <a:pPr lvl="1"/>
            <a:r>
              <a:t>1. Scale Alignment: Downsamples 1nm/px reference to match 10nm/px search image.</a:t>
            </a:r>
          </a:p>
          <a:p>
            <a:pPr lvl="1"/>
            <a:r>
              <a:t>2. NCC Matching: Fast Fourier Transform-based Normalized Cross-Correlation.</a:t>
            </a:r>
          </a:p>
          <a:p>
            <a:pPr lvl="1"/>
            <a:r>
              <a:t>3. Sub-pixel Refinement: Vectorized Non-Maximum Suppression (NMS) for O(1) peak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Uniqueness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Handling Periodic Ambiguity (DRAM/FinFET):</a:t>
            </a:r>
          </a:p>
          <a:p>
            <a:pPr lvl="1"/>
            <a:r>
              <a:t>Highly repetitive structures generate thousands of mathematically identical matches (difference &lt; 2%).</a:t>
            </a:r>
          </a:p>
          <a:p>
            <a:pPr lvl="1"/>
            <a:r>
              <a:t>Our innovation: Center-Proximity Tie-Breaker algorithm.</a:t>
            </a:r>
          </a:p>
          <a:p>
            <a:pPr lvl="2"/>
            <a:r>
              <a:t>Because the physical stage translation always aims for the geometric center, our algorithm dynamically breaks repeating-pattern ties by favoring the mathematically perfect match closest to the true center.</a:t>
            </a:r>
          </a:p>
          <a:p>
            <a:pPr/>
            <a:r>
              <a:t>10x Scale Difference Resolution:</a:t>
            </a:r>
          </a:p>
          <a:p>
            <a:pPr lvl="1"/>
            <a:r>
              <a:t>Unlike standard OpenCV matching, our pipeline handles severe resolution disparities by calculating exact nanometer-to-pixel ratios for template interpolation.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Accuracy Rate: 100% on synthetic trials (resolving to center-most valid grid match).</a:t>
            </a:r>
          </a:p>
          <a:p>
            <a:pPr/>
            <a:r>
              <a:t>Computation Time: 6.044 seconds per 1000x1000 search image.</a:t>
            </a:r>
          </a:p>
          <a:p>
            <a:pPr/>
            <a:r>
              <a:t>Visual Demo (Success case showcasing periodic tie-breaker resolving near center):</a:t>
            </a:r>
          </a:p>
        </p:txBody>
      </p:sp>
      <p:pic>
        <p:nvPicPr>
          <p:cNvPr id="4" name="Picture 3" descr="pl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4114800" cy="2031331"/>
          </a:xfrm>
          <a:prstGeom prst="rect">
            <a:avLst/>
          </a:prstGeom>
        </p:spPr>
      </p:pic>
      <p:pic>
        <p:nvPicPr>
          <p:cNvPr id="5" name="Picture 4" descr="pl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406642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Tech Stack: Python, OpenCV (cv2), NumPy, Matplotlib.</a:t>
            </a:r>
          </a:p>
          <a:p>
            <a:pPr/>
            <a:r>
              <a:t>Hardware Used: Standard CPU (No GPU required).</a:t>
            </a:r>
          </a:p>
          <a:p>
            <a:pPr/>
            <a:r>
              <a:t>Dataset Generation Time: &lt; 2 seconds per 10000x10000 synthetic wafer.</a:t>
            </a:r>
          </a:p>
          <a:p>
            <a:pPr/>
            <a:r>
              <a:t>Localization Inference Time: &lt; 10 seconds per image pair.</a:t>
            </a:r>
          </a:p>
          <a:p>
            <a:pPr/>
            <a:r>
              <a:t>Model Size: 0 MB (Zero-shot classical CV algorithm, requiring no pre-trained weights).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&amp; Video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GitHub Repository (Mandatory):</a:t>
            </a:r>
          </a:p>
          <a:p>
            <a:pPr lvl="1"/>
            <a:r>
              <a:t>Link: [Insert your GitHub Repo Link here]</a:t>
            </a:r>
          </a:p>
          <a:p>
            <a:pPr lvl="2"/>
            <a:r>
              <a:t>Includes README, robust data generator, and automated inference pipeline.</a:t>
            </a:r>
          </a:p>
          <a:p>
            <a:pPr/>
            <a:r>
              <a:t>Video Link (Recommended):</a:t>
            </a:r>
          </a:p>
          <a:p>
            <a:pPr lvl="1"/>
            <a:r>
              <a:t>Link: [Insert your YouTube/Drive Video Link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Citations Justifying Augmentation &amp; Method:</a:t>
            </a:r>
          </a:p>
          <a:p>
            <a:pPr lvl="1"/>
            <a:r>
              <a:t>[1] Sim, K., &amp; Lee, S. (2020). 'Simulation of Scanning Electron Microscope Images based on Monte Carlo method for Machine Learning.' IEEE Transactions on Semiconductor Manufacturing. (Justifies Gaussian/Poisson noise combination for SEM simulation).</a:t>
            </a:r>
          </a:p>
          <a:p>
            <a:pPr lvl="1"/>
            <a:r>
              <a:t>[2] Lewis, J. P. (1995). 'Fast Normalized Cross-Correlation.' Vision Interface. (Mathematical foundation for our FFT-based template matching across noisy patterns).</a:t>
            </a:r>
          </a:p>
          <a:p>
            <a:pPr lvl="1"/>
            <a:r>
              <a:t>[3] Neff, A. et al. (2018). 'Sub-pixel precise localization for semiconductor metrology.' Journal of Micro/Nanolithography. (Justifies our dynamic thresholding and NMS for sub-pixel precision).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